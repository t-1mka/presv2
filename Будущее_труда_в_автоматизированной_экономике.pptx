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 касается каждого. Автоматизация — это не одна технология, а два потока: цифровой и физический. И они по-разному влияют на разные профессии.</a:t>
            </a:r>
          </a:p>
          <a:p/>
          <a:p>
            <a:r>
              <a:t>Зацепка для зала (первые 20 секунд): «Кто из вас считает, что его профессия может исчезнуть из-за ИИ?» — пауза 2–3 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последовательно разберём, что такое автоматизированная экономика, кого она затрагивает, и что делать, чтобы остаться востребованным.</a:t>
            </a:r>
          </a:p>
          <a:p/>
          <a:p>
            <a:r>
              <a:t>Регламент — 10–12 минут, шесть блоков.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Долгое время говорили только об ИИ и офисных профессиях. Но роботы — это отдельная волна.</a:t>
            </a:r>
          </a:p>
          <a:p/>
          <a:p>
            <a:r>
              <a:t>McKinsey: ИИ может автоматизировать 44% рабочих часов, роботы — ещё 13%. Вместе — 57%.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переворачивает традиционное представление: автоматизация угрожает не только низкоквалифицированным, но и самым образованным.</a:t>
            </a:r>
          </a:p>
          <a:p/>
          <a:p>
            <a:r>
              <a:t>Источник: ILO — GenAI and Jobs (2025), экспозиция профессий.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Вождение — первая массовая профессия, где роботы уже конкурентоспособны. Это не будущее — это происходит сейчас.</a:t>
            </a:r>
          </a:p>
          <a:p/>
          <a:p>
            <a:r>
              <a:t>Индекс экспозиции: 0 — робот не справляется, 3 — справляется полностью.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Автоматизация не нейтральна. Последствия для «синих воротничков» тяжелее: у них меньше ресурсов для переквалификации.</a:t>
            </a:r>
          </a:p>
          <a:p/>
          <a:p>
            <a:r>
              <a:t>Безработица: 5,2% у уязвимых для роботов против 2,2% у защищённых. 69% уязвимых для роботов — мужчины.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Баланс положительный, но проблема не в количестве, а в несовпадении навыков. Роботы чаще заменяют, ИИ чаще дополняет.</a:t>
            </a:r>
          </a:p>
          <a:p/>
          <a:p>
            <a:r>
              <a:t>Источник: WEF Future of Jobs Report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Разрыв в 9 раз между лидером и средним уровнем. Страны с высокой автоматизацией первыми почувствуют её последствия.</a:t>
            </a:r>
          </a:p>
          <a:p/>
          <a:p>
            <a:r>
              <a:t>Источник: IFR World Robotics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самый уязвимый сектор. Массовая потеря рабочих мест возможна к 2026–2030.</a:t>
            </a:r>
          </a:p>
          <a:p/>
          <a:p>
            <a:r>
              <a:t>Источник: UC ITS — Autonomous Trucking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Логистика — пример трансформации, а не просто замены. Вопрос в том, успеют ли работники переквалифицироваться.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только роботы подешевеют, замена ускорится лавинообразно. Это ключевой экономический триггер.</a:t>
            </a:r>
          </a:p>
          <a:p/>
          <a:p>
            <a:r>
              <a:t>Источник: Anthropic — Labor Market Impacts (2026); McKinsey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Технические навыки устаревают. «Power skills» — эмпатия, креативность, суждение — становятся главным конкурентным преимуществом человека.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Автоматизация — не конец работы. Это переопределение того, что значит работать. И те, кто понимает оба вектора, будут лучше подготовлены к будущему.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Готов ответить на ваши вопросы. Особенно интересно обсудить, какой из двух векторов коснётся лично вас.</a:t>
            </a:r>
          </a:p>
          <a:p/>
          <a:p>
            <a:r>
              <a:t>QR-код ведёт на список источников в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2344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298448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C55A11"/>
                </a:solidFill>
                <a:latin typeface="Arial"/>
              </a:rPr>
              <a:t>УЧЕБНАЯ ПРЕЗЕНТАЦИЯ · ПРАКТИЧЕСКОЕ ЗАНЯТИЕ №10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19072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4E79"/>
                </a:solidFill>
                <a:latin typeface="Arial"/>
              </a:rPr>
              <a:t>Будущее труда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4E79"/>
                </a:solidFill>
                <a:latin typeface="Arial"/>
              </a:rPr>
              <a:t>в автоматизированной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4E79"/>
                </a:solidFill>
                <a:latin typeface="Arial"/>
              </a:rPr>
              <a:t>экономике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840480"/>
            <a:ext cx="2011680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041648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A1A1A"/>
                </a:solidFill>
                <a:latin typeface="Arial"/>
              </a:rPr>
              <a:t>Не только ИИ: как роботы и алгоритмы вместе меняют рынок труда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377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Автор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493776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Arial"/>
              </a:rPr>
              <a:t>Иванов Иван Иванович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2486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Организация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5248656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Arial"/>
              </a:rPr>
              <a:t>Группа ЭК-21, экономический факультет · Учебная организация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55955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555955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Arial"/>
              </a:rPr>
              <a:t>student@example.edu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704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Мероприятие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587044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Arial"/>
              </a:rPr>
              <a:t>Практическое занятие №10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8134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Дата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618134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Arial"/>
              </a:rPr>
              <a:t>15 октября 2026 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План доклада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535838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73152" cy="12984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72768"/>
            <a:ext cx="822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EEBF7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554480"/>
            <a:ext cx="4078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F4E79"/>
                </a:solidFill>
                <a:latin typeface="Arial"/>
              </a:rPr>
              <a:t>Два вектора автоматизации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084832"/>
            <a:ext cx="40782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ИИ и роботы: в чём разница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371600"/>
            <a:ext cx="535838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371600"/>
            <a:ext cx="73152" cy="12984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572768"/>
            <a:ext cx="822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EEBF7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8624" y="1554480"/>
            <a:ext cx="4078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F4E79"/>
                </a:solidFill>
                <a:latin typeface="Arial"/>
              </a:rPr>
              <a:t>Профессии под ударом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8624" y="2084832"/>
            <a:ext cx="40782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Кто уязвим и почему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07792"/>
            <a:ext cx="535838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907792"/>
            <a:ext cx="73152" cy="12984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08960"/>
            <a:ext cx="822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EEBF7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090672"/>
            <a:ext cx="4078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F4E79"/>
                </a:solidFill>
                <a:latin typeface="Arial"/>
              </a:rPr>
              <a:t>Масштаб изменений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621024"/>
            <a:ext cx="40782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Статистика и география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2907792"/>
            <a:ext cx="535838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2907792"/>
            <a:ext cx="73152" cy="12984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108960"/>
            <a:ext cx="822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EEBF7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3090672"/>
            <a:ext cx="4078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F4E79"/>
                </a:solidFill>
                <a:latin typeface="Arial"/>
              </a:rPr>
              <a:t>Кейсы: транспорт и логистика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3621024"/>
            <a:ext cx="40782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Что уже происходит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43984"/>
            <a:ext cx="535838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443984"/>
            <a:ext cx="73152" cy="12984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645152"/>
            <a:ext cx="822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EEBF7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626864"/>
            <a:ext cx="4078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F4E79"/>
                </a:solidFill>
                <a:latin typeface="Arial"/>
              </a:rPr>
              <a:t>Экономика и навыки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5157216"/>
            <a:ext cx="40782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Когда робот дешевле человека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27064" y="4443984"/>
            <a:ext cx="535838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7064" y="4443984"/>
            <a:ext cx="73152" cy="12984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645152"/>
            <a:ext cx="822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EEBF7"/>
                </a:solidFill>
                <a:latin typeface="Arial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4" y="4626864"/>
            <a:ext cx="4078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F4E79"/>
                </a:solidFill>
                <a:latin typeface="Arial"/>
              </a:rPr>
              <a:t>Выводы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8624" y="5157216"/>
            <a:ext cx="40782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Что делать и что учить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ИИ и роботы: два вектора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5349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ИИ: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заменяет когнитивные задачи — анализ, текст, код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Роботы: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заменяют физический труд — сборку, перемещение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Скорость: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ИИ внедряется быстро, роботы — медленнее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Стоимость: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ИИ — подписка, роботы — покупка и сервис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234440"/>
          <a:ext cx="563270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/>
                <a:gridCol w="1877568"/>
                <a:gridCol w="199491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109728" marR="109728" marT="45720" marB="4572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ИИ (цифровая)</a:t>
                      </a:r>
                    </a:p>
                  </a:txBody>
                  <a:tcPr marL="109728" marR="109728" marT="45720" marB="4572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Роботы (физическая)</a:t>
                      </a:r>
                    </a:p>
                  </a:txBody>
                  <a:tcPr marL="109728" marR="109728" marT="45720" marB="45720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Что заменяет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Когнитивные задачи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Физический труд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Кого затрагивает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«Белые воротнички»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«Синие воротнички»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Скорость внедрения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Быстро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Медленнее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Стоимость внедрения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Низкая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Высокая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3_vector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4069080"/>
            <a:ext cx="5696712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Профессии с высоким риском автоматизации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Программисты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до 94% задач покрываются LLM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Офисный персонал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около 90%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Юристы, бизнес, финансы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высокий риск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Парадокс: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под удар попадают высокооплачиваемые и образованные</a:t>
            </a:r>
          </a:p>
        </p:txBody>
      </p:sp>
      <p:pic>
        <p:nvPicPr>
          <p:cNvPr id="6" name="Picture 5" descr="04_ai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325880"/>
            <a:ext cx="6336792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Профессии с высоким риском автоматизации роботами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4434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9 из 10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наиболее уязвимых — операторы транспортных средств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Водители такси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97% работы может выполнить робот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Сельхозтехника, погрузчики, шаттлы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высокий риск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Барьер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экономический, а не технологический</a:t>
            </a:r>
          </a:p>
        </p:txBody>
      </p:sp>
      <p:pic>
        <p:nvPicPr>
          <p:cNvPr id="6" name="Picture 5" descr="05_robot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325880"/>
            <a:ext cx="6336792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Кто именно теряет работу: два профиля</a:t>
            </a:r>
          </a:p>
        </p:txBody>
      </p:sp>
      <p:pic>
        <p:nvPicPr>
          <p:cNvPr id="5" name="Picture 4" descr="06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11057839" cy="3794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5138928"/>
          <a:ext cx="1105783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957"/>
                <a:gridCol w="3103954"/>
                <a:gridCol w="5043926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109728" marR="109728" marT="45720" marB="4572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Уязвимые для ИИ</a:t>
                      </a:r>
                    </a:p>
                  </a:txBody>
                  <a:tcPr marL="109728" marR="109728" marT="45720" marB="4572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Уязвимые для роботов</a:t>
                      </a:r>
                    </a:p>
                  </a:txBody>
                  <a:tcPr marL="109728" marR="109728" marT="45720" marB="45720" anchor="ctr">
                    <a:solidFill>
                      <a:srgbClr val="1F4E7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Образование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Высокое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8% с высшим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A1A1A"/>
                          </a:solidFill>
                          <a:latin typeface="Arial"/>
                        </a:rPr>
                        <a:t>Доход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Высокий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≈ $23/час против $53 у защищённых</a:t>
                      </a:r>
                    </a:p>
                  </a:txBody>
                  <a:tcPr marL="109728" marR="109728" marT="45720" marB="4572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Сколько рабочих мест исчезнет и появится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42976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Исчезнет к 2030: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92 млн рабочих мест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Появится новых: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170 млн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Чистый прирост: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+78 млн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Робототехника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крупнейший нетто-вытеснитель: −5 млн</a:t>
            </a:r>
          </a:p>
        </p:txBody>
      </p:sp>
      <p:pic>
        <p:nvPicPr>
          <p:cNvPr id="6" name="Picture 5" descr="07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54480"/>
            <a:ext cx="6199632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Где роботов больше всего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Южная Корея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1220 роботов на 10 000 работников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Сингапур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818, Германия — 449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США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307, Китай — 166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Мировой средний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132</a:t>
            </a:r>
          </a:p>
        </p:txBody>
      </p:sp>
      <p:pic>
        <p:nvPicPr>
          <p:cNvPr id="6" name="Picture 5" descr="08_robo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6656832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Автономные грузовики: самая уязвимая профессия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В США —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3,5 млн водителей грузовиков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Роботы выполняют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97% работы таксиста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В местах работы автономных такси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зарплаты упали на 6,9%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24 000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водительских позиций ликвидированы (2023)</a:t>
            </a:r>
          </a:p>
        </p:txBody>
      </p:sp>
      <p:pic>
        <p:nvPicPr>
          <p:cNvPr id="6" name="Picture 5" descr="09_tru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00200"/>
            <a:ext cx="6108192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Склады и логистика: роботы уже рядом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Amazon: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более 1 млн роботов на складах; за полгода 2026 заказано 18 000 роботов на $1,2 млрд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55% руководителей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ожидают сокращения найма; при этом роботы создают новые роли — техники, интеграторы</a:t>
            </a:r>
          </a:p>
        </p:txBody>
      </p:sp>
      <p:pic>
        <p:nvPicPr>
          <p:cNvPr id="6" name="Picture 5" descr="10_log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926080"/>
            <a:ext cx="9354312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Когда робот дешевле человека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74%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физических задач роботы способны выполнять технически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0,3%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— экономически конкурентоспособны сегодня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При снижении цены на 20%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число замен вырастет с 300 тыс. до 2,8 млн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Барьер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не технологический, а экономический</a:t>
            </a:r>
          </a:p>
        </p:txBody>
      </p:sp>
      <p:pic>
        <p:nvPicPr>
          <p:cNvPr id="6" name="Picture 5" descr="11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661111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Кто выиграет от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Инженеры-робототехники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— в топе WEF по росту спроса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Техники по обслуживанию роботов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— $70–80 тыс./год без 4-летнего диплома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Эмоциональный интеллект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— спрос вырос на 173%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Креативность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— спрос вырос на 168%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43% рабочих часов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остаются уникально человеческими</a:t>
            </a:r>
          </a:p>
        </p:txBody>
      </p:sp>
      <p:pic>
        <p:nvPicPr>
          <p:cNvPr id="6" name="Picture 5" descr="12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83080"/>
            <a:ext cx="610819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3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Arial"/>
              </a:rPr>
              <a:t>Основные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Два вектора — разные последствия.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ИИ бьёт по офисным профессиям быстро и дёшево; роботы — по физическим, медленнее, но глубже.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Риск не в безработице, а в неравенстве.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Уязвимые для роботов — менее образованные, ниже оплачиваемые, с меньшими ресурсами для адаптации.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Будущее — партнёрство.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Выиграют те, кто умеет направлять, а не конкурировать с машинами.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</a:rPr>
              <a:t>Ключевой навык — адаптивность.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Готовность к смене 3–5 профессий за карьеру.</a:t>
            </a:r>
          </a:p>
        </p:txBody>
      </p:sp>
      <p:pic>
        <p:nvPicPr>
          <p:cNvPr id="6" name="Picture 5" descr="13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286000"/>
            <a:ext cx="434340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1F4E79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C55A11"/>
                </a:solidFill>
                <a:latin typeface="Arial"/>
              </a:rPr>
              <a:t>Вопросы и обсуждение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889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595959"/>
                </a:solidFill>
                <a:latin typeface="Arial"/>
              </a:rPr>
              <a:t>КОНТАКТЫ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54680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A1A"/>
                </a:solidFill>
                <a:latin typeface="Arial"/>
              </a:rPr>
              <a:t>Иванов Иван Иванович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A1A"/>
                </a:solidFill>
                <a:latin typeface="Arial"/>
              </a:rPr>
              <a:t>Группа ЭК-21, экономический факультет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A1A"/>
                </a:solidFill>
                <a:latin typeface="Arial"/>
              </a:rPr>
              <a:t>Учебная организация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A1A"/>
                </a:solidFill>
                <a:latin typeface="Arial"/>
              </a:rPr>
              <a:t>student@example.edu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A1A"/>
                </a:solidFill>
                <a:latin typeface="Arial"/>
              </a:rPr>
              <a:t>15 октября 2026 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78892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595959"/>
                </a:solidFill>
                <a:latin typeface="Arial"/>
              </a:rPr>
              <a:t>ИСТОЧНИКИ — НАВЕДИТЕ КАМЕРУ</a:t>
            </a:r>
          </a:p>
        </p:txBody>
      </p:sp>
      <p:pic>
        <p:nvPicPr>
          <p:cNvPr id="10" name="Picture 9" descr="14_qr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154680"/>
            <a:ext cx="1737360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3127248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WEF Future of Jobs Report 2025</a:t>
            </a:r>
          </a:p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McKinsey — Agents, Robots, and Us</a:t>
            </a:r>
          </a:p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IFR World Robotics 2025</a:t>
            </a:r>
          </a:p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Anthropic — Labor Market Impacts (2026)</a:t>
            </a:r>
          </a:p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ILO — GenAI and Jobs (2025)</a:t>
            </a:r>
          </a:p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UC ITS — Autonomous Trucking (2026)</a:t>
            </a:r>
          </a:p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1A1A1A"/>
                </a:solidFill>
                <a:latin typeface="Arial"/>
              </a:rPr>
              <a:t>github.com/t-1mka/PresV2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135" y="6382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600" b="0" i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